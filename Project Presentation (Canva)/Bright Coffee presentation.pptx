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HK Modular" charset="1" panose="00000800000000000000"/>
      <p:regular r:id="rId17"/>
    </p:embeddedFont>
    <p:embeddedFont>
      <p:font typeface="Tenor Sans" charset="1" panose="02000000000000000000"/>
      <p:regular r:id="rId18"/>
    </p:embeddedFont>
    <p:embeddedFont>
      <p:font typeface="Poppins Light" charset="1" panose="00000400000000000000"/>
      <p:regular r:id="rId19"/>
    </p:embeddedFont>
    <p:embeddedFont>
      <p:font typeface="Poppins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 Id="rId6"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5056" r="0" b="-31980"/>
            </a:stretch>
          </a:blipFill>
        </p:spPr>
      </p:sp>
      <p:sp>
        <p:nvSpPr>
          <p:cNvPr name="TextBox 3" id="3"/>
          <p:cNvSpPr txBox="true"/>
          <p:nvPr/>
        </p:nvSpPr>
        <p:spPr>
          <a:xfrm rot="0">
            <a:off x="3579412" y="4034347"/>
            <a:ext cx="11129176" cy="2795883"/>
          </a:xfrm>
          <a:prstGeom prst="rect">
            <a:avLst/>
          </a:prstGeom>
        </p:spPr>
        <p:txBody>
          <a:bodyPr anchor="t" rtlCol="false" tIns="0" lIns="0" bIns="0" rIns="0">
            <a:spAutoFit/>
          </a:bodyPr>
          <a:lstStyle/>
          <a:p>
            <a:pPr algn="ctr">
              <a:lnSpc>
                <a:spcPts val="22821"/>
              </a:lnSpc>
              <a:spcBef>
                <a:spcPct val="0"/>
              </a:spcBef>
            </a:pPr>
            <a:r>
              <a:rPr lang="en-US" sz="16300">
                <a:solidFill>
                  <a:srgbClr val="E9755E"/>
                </a:solidFill>
                <a:latin typeface="HK Modular"/>
                <a:ea typeface="HK Modular"/>
                <a:cs typeface="HK Modular"/>
                <a:sym typeface="HK Modular"/>
              </a:rPr>
              <a:t>BRIGHT</a:t>
            </a:r>
          </a:p>
        </p:txBody>
      </p:sp>
      <p:sp>
        <p:nvSpPr>
          <p:cNvPr name="TextBox 4" id="4"/>
          <p:cNvSpPr txBox="true"/>
          <p:nvPr/>
        </p:nvSpPr>
        <p:spPr>
          <a:xfrm rot="0">
            <a:off x="4029775" y="7307724"/>
            <a:ext cx="10228450" cy="771525"/>
          </a:xfrm>
          <a:prstGeom prst="rect">
            <a:avLst/>
          </a:prstGeom>
        </p:spPr>
        <p:txBody>
          <a:bodyPr anchor="t" rtlCol="false" tIns="0" lIns="0" bIns="0" rIns="0">
            <a:spAutoFit/>
          </a:bodyPr>
          <a:lstStyle/>
          <a:p>
            <a:pPr algn="ctr">
              <a:lnSpc>
                <a:spcPts val="6299"/>
              </a:lnSpc>
              <a:spcBef>
                <a:spcPct val="0"/>
              </a:spcBef>
            </a:pPr>
            <a:r>
              <a:rPr lang="en-US" sz="4500" spc="3460">
                <a:solidFill>
                  <a:srgbClr val="F2E3CD"/>
                </a:solidFill>
                <a:latin typeface="Tenor Sans"/>
                <a:ea typeface="Tenor Sans"/>
                <a:cs typeface="Tenor Sans"/>
                <a:sym typeface="Tenor Sans"/>
              </a:rPr>
              <a:t>COFFEE SHOP</a:t>
            </a:r>
          </a:p>
        </p:txBody>
      </p:sp>
      <p:sp>
        <p:nvSpPr>
          <p:cNvPr name="Freeform 5" id="5"/>
          <p:cNvSpPr/>
          <p:nvPr/>
        </p:nvSpPr>
        <p:spPr>
          <a:xfrm flipH="false" flipV="false" rot="0">
            <a:off x="8283355" y="2207817"/>
            <a:ext cx="1721290" cy="1976430"/>
          </a:xfrm>
          <a:custGeom>
            <a:avLst/>
            <a:gdLst/>
            <a:ahLst/>
            <a:cxnLst/>
            <a:rect r="r" b="b" t="t" l="l"/>
            <a:pathLst>
              <a:path h="1976430" w="1721290">
                <a:moveTo>
                  <a:pt x="0" y="0"/>
                </a:moveTo>
                <a:lnTo>
                  <a:pt x="1721290" y="0"/>
                </a:lnTo>
                <a:lnTo>
                  <a:pt x="1721290" y="1976430"/>
                </a:lnTo>
                <a:lnTo>
                  <a:pt x="0" y="19764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E3C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20750" y="877904"/>
            <a:ext cx="9350289" cy="9409096"/>
          </a:xfrm>
          <a:custGeom>
            <a:avLst/>
            <a:gdLst/>
            <a:ahLst/>
            <a:cxnLst/>
            <a:rect r="r" b="b" t="t" l="l"/>
            <a:pathLst>
              <a:path h="9409096" w="9350289">
                <a:moveTo>
                  <a:pt x="9350290" y="0"/>
                </a:moveTo>
                <a:lnTo>
                  <a:pt x="0" y="0"/>
                </a:lnTo>
                <a:lnTo>
                  <a:pt x="0" y="9409096"/>
                </a:lnTo>
                <a:lnTo>
                  <a:pt x="9350290" y="9409096"/>
                </a:lnTo>
                <a:lnTo>
                  <a:pt x="9350290" y="0"/>
                </a:lnTo>
                <a:close/>
              </a:path>
            </a:pathLst>
          </a:custGeom>
          <a:blipFill>
            <a:blip r:embed="rId4">
              <a:alphaModFix amt="24000"/>
            </a:blip>
            <a:stretch>
              <a:fillRect l="0" t="0" r="0" b="0"/>
            </a:stretch>
          </a:blipFill>
        </p:spPr>
      </p:sp>
      <p:grpSp>
        <p:nvGrpSpPr>
          <p:cNvPr name="Group 4" id="4"/>
          <p:cNvGrpSpPr/>
          <p:nvPr/>
        </p:nvGrpSpPr>
        <p:grpSpPr>
          <a:xfrm rot="0">
            <a:off x="1902467" y="1925008"/>
            <a:ext cx="5230049" cy="6436984"/>
            <a:chOff x="0" y="0"/>
            <a:chExt cx="660400" cy="812800"/>
          </a:xfrm>
        </p:grpSpPr>
        <p:sp>
          <p:nvSpPr>
            <p:cNvPr name="Freeform 5" id="5"/>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5"/>
              <a:stretch>
                <a:fillRect l="0" t="-10975" r="0" b="-10975"/>
              </a:stretch>
            </a:blipFill>
          </p:spPr>
        </p:sp>
      </p:grpSp>
      <p:grpSp>
        <p:nvGrpSpPr>
          <p:cNvPr name="Group 6" id="6"/>
          <p:cNvGrpSpPr/>
          <p:nvPr/>
        </p:nvGrpSpPr>
        <p:grpSpPr>
          <a:xfrm rot="0">
            <a:off x="7849797" y="4146423"/>
            <a:ext cx="4399626" cy="125857"/>
            <a:chOff x="0" y="0"/>
            <a:chExt cx="14206657" cy="406400"/>
          </a:xfrm>
        </p:grpSpPr>
        <p:sp>
          <p:nvSpPr>
            <p:cNvPr name="Freeform 7" id="7"/>
            <p:cNvSpPr/>
            <p:nvPr/>
          </p:nvSpPr>
          <p:spPr>
            <a:xfrm flipH="false" flipV="false" rot="0">
              <a:off x="0" y="0"/>
              <a:ext cx="14206657" cy="406400"/>
            </a:xfrm>
            <a:custGeom>
              <a:avLst/>
              <a:gdLst/>
              <a:ahLst/>
              <a:cxnLst/>
              <a:rect r="r" b="b" t="t" l="l"/>
              <a:pathLst>
                <a:path h="406400" w="14206657">
                  <a:moveTo>
                    <a:pt x="14003457" y="0"/>
                  </a:moveTo>
                  <a:cubicBezTo>
                    <a:pt x="14115681" y="0"/>
                    <a:pt x="14206657" y="90976"/>
                    <a:pt x="14206657" y="203200"/>
                  </a:cubicBezTo>
                  <a:cubicBezTo>
                    <a:pt x="14206657" y="315424"/>
                    <a:pt x="14115681" y="406400"/>
                    <a:pt x="14003457" y="406400"/>
                  </a:cubicBezTo>
                  <a:lnTo>
                    <a:pt x="203200" y="406400"/>
                  </a:lnTo>
                  <a:cubicBezTo>
                    <a:pt x="90976" y="406400"/>
                    <a:pt x="0" y="315424"/>
                    <a:pt x="0" y="203200"/>
                  </a:cubicBezTo>
                  <a:cubicBezTo>
                    <a:pt x="0" y="90976"/>
                    <a:pt x="90976" y="0"/>
                    <a:pt x="203200" y="0"/>
                  </a:cubicBezTo>
                  <a:close/>
                </a:path>
              </a:pathLst>
            </a:custGeom>
            <a:solidFill>
              <a:srgbClr val="09484E"/>
            </a:solidFill>
          </p:spPr>
        </p:sp>
        <p:sp>
          <p:nvSpPr>
            <p:cNvPr name="TextBox 8" id="8"/>
            <p:cNvSpPr txBox="true"/>
            <p:nvPr/>
          </p:nvSpPr>
          <p:spPr>
            <a:xfrm>
              <a:off x="0" y="-57150"/>
              <a:ext cx="14206657" cy="463550"/>
            </a:xfrm>
            <a:prstGeom prst="rect">
              <a:avLst/>
            </a:prstGeom>
          </p:spPr>
          <p:txBody>
            <a:bodyPr anchor="ctr" rtlCol="false" tIns="50800" lIns="50800" bIns="50800" rIns="50800"/>
            <a:lstStyle/>
            <a:p>
              <a:pPr algn="ctr">
                <a:lnSpc>
                  <a:spcPts val="2799"/>
                </a:lnSpc>
              </a:pPr>
            </a:p>
          </p:txBody>
        </p:sp>
      </p:grpSp>
      <p:sp>
        <p:nvSpPr>
          <p:cNvPr name="TextBox 9" id="9"/>
          <p:cNvSpPr txBox="true"/>
          <p:nvPr/>
        </p:nvSpPr>
        <p:spPr>
          <a:xfrm rot="0">
            <a:off x="15828396" y="7870892"/>
            <a:ext cx="1430904" cy="1387408"/>
          </a:xfrm>
          <a:prstGeom prst="rect">
            <a:avLst/>
          </a:prstGeom>
        </p:spPr>
        <p:txBody>
          <a:bodyPr anchor="t" rtlCol="false" tIns="0" lIns="0" bIns="0" rIns="0">
            <a:spAutoFit/>
          </a:bodyPr>
          <a:lstStyle/>
          <a:p>
            <a:pPr algn="r">
              <a:lnSpc>
                <a:spcPts val="11200"/>
              </a:lnSpc>
            </a:pPr>
            <a:r>
              <a:rPr lang="en-US" sz="8000">
                <a:solidFill>
                  <a:srgbClr val="D0604A"/>
                </a:solidFill>
                <a:latin typeface="Tenor Sans"/>
                <a:ea typeface="Tenor Sans"/>
                <a:cs typeface="Tenor Sans"/>
                <a:sym typeface="Tenor Sans"/>
              </a:rPr>
              <a:t>01</a:t>
            </a:r>
          </a:p>
        </p:txBody>
      </p:sp>
      <p:grpSp>
        <p:nvGrpSpPr>
          <p:cNvPr name="Group 10" id="10"/>
          <p:cNvGrpSpPr/>
          <p:nvPr/>
        </p:nvGrpSpPr>
        <p:grpSpPr>
          <a:xfrm rot="0">
            <a:off x="17018037" y="1438874"/>
            <a:ext cx="7409253" cy="740925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484E"/>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3" id="13"/>
          <p:cNvGrpSpPr/>
          <p:nvPr/>
        </p:nvGrpSpPr>
        <p:grpSpPr>
          <a:xfrm rot="0">
            <a:off x="7849797" y="4586605"/>
            <a:ext cx="6999413" cy="4833666"/>
            <a:chOff x="0" y="0"/>
            <a:chExt cx="1411404" cy="974690"/>
          </a:xfrm>
        </p:grpSpPr>
        <p:sp>
          <p:nvSpPr>
            <p:cNvPr name="Freeform 14" id="14"/>
            <p:cNvSpPr/>
            <p:nvPr/>
          </p:nvSpPr>
          <p:spPr>
            <a:xfrm flipH="false" flipV="false" rot="0">
              <a:off x="0" y="0"/>
              <a:ext cx="1411404" cy="955903"/>
            </a:xfrm>
            <a:custGeom>
              <a:avLst/>
              <a:gdLst/>
              <a:ahLst/>
              <a:cxnLst/>
              <a:rect r="r" b="b" t="t" l="l"/>
              <a:pathLst>
                <a:path h="955903" w="1411404">
                  <a:moveTo>
                    <a:pt x="1390233" y="0"/>
                  </a:moveTo>
                  <a:lnTo>
                    <a:pt x="21171" y="0"/>
                  </a:lnTo>
                  <a:cubicBezTo>
                    <a:pt x="9479" y="0"/>
                    <a:pt x="0" y="9479"/>
                    <a:pt x="0" y="21171"/>
                  </a:cubicBezTo>
                  <a:lnTo>
                    <a:pt x="0" y="874355"/>
                  </a:lnTo>
                  <a:cubicBezTo>
                    <a:pt x="75075" y="950069"/>
                    <a:pt x="315313" y="1011803"/>
                    <a:pt x="675671" y="874355"/>
                  </a:cubicBezTo>
                  <a:cubicBezTo>
                    <a:pt x="1036031" y="692637"/>
                    <a:pt x="1316310" y="798639"/>
                    <a:pt x="1411404" y="874355"/>
                  </a:cubicBezTo>
                  <a:lnTo>
                    <a:pt x="1411404" y="21171"/>
                  </a:lnTo>
                  <a:cubicBezTo>
                    <a:pt x="1411404" y="9479"/>
                    <a:pt x="1401926" y="0"/>
                    <a:pt x="1390233" y="0"/>
                  </a:cubicBezTo>
                  <a:close/>
                </a:path>
              </a:pathLst>
            </a:custGeom>
            <a:solidFill>
              <a:srgbClr val="02262A"/>
            </a:solidFill>
          </p:spPr>
        </p:sp>
        <p:sp>
          <p:nvSpPr>
            <p:cNvPr name="TextBox 15" id="15"/>
            <p:cNvSpPr txBox="true"/>
            <p:nvPr/>
          </p:nvSpPr>
          <p:spPr>
            <a:xfrm>
              <a:off x="0" y="-95250"/>
              <a:ext cx="1411404" cy="861078"/>
            </a:xfrm>
            <a:prstGeom prst="rect">
              <a:avLst/>
            </a:prstGeom>
          </p:spPr>
          <p:txBody>
            <a:bodyPr anchor="ctr" rtlCol="false" tIns="50800" lIns="50800" bIns="50800" rIns="50800"/>
            <a:lstStyle/>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Contents page</a:t>
              </a:r>
            </a:p>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Introduction</a:t>
              </a:r>
            </a:p>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Data systems</a:t>
              </a:r>
            </a:p>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Analysis</a:t>
              </a:r>
            </a:p>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Recommendation</a:t>
              </a:r>
            </a:p>
            <a:p>
              <a:pPr algn="l" marL="712459" indent="-356229" lvl="1">
                <a:lnSpc>
                  <a:spcPts val="4619"/>
                </a:lnSpc>
                <a:buFont typeface="Arial"/>
                <a:buChar char="•"/>
              </a:pPr>
              <a:r>
                <a:rPr lang="en-US" sz="3299">
                  <a:solidFill>
                    <a:srgbClr val="FFFFFF"/>
                  </a:solidFill>
                  <a:latin typeface="Poppins Light"/>
                  <a:ea typeface="Poppins Light"/>
                  <a:cs typeface="Poppins Light"/>
                  <a:sym typeface="Poppins Light"/>
                </a:rPr>
                <a:t>Implementation plan</a:t>
              </a:r>
            </a:p>
          </p:txBody>
        </p:sp>
      </p:grpSp>
      <p:sp>
        <p:nvSpPr>
          <p:cNvPr name="TextBox 16" id="16"/>
          <p:cNvSpPr txBox="true"/>
          <p:nvPr/>
        </p:nvSpPr>
        <p:spPr>
          <a:xfrm rot="0">
            <a:off x="7849797" y="2640476"/>
            <a:ext cx="7978599" cy="1193800"/>
          </a:xfrm>
          <a:prstGeom prst="rect">
            <a:avLst/>
          </a:prstGeom>
        </p:spPr>
        <p:txBody>
          <a:bodyPr anchor="t" rtlCol="false" tIns="0" lIns="0" bIns="0" rIns="0">
            <a:spAutoFit/>
          </a:bodyPr>
          <a:lstStyle/>
          <a:p>
            <a:pPr algn="l">
              <a:lnSpc>
                <a:spcPts val="9799"/>
              </a:lnSpc>
              <a:spcBef>
                <a:spcPct val="0"/>
              </a:spcBef>
            </a:pPr>
            <a:r>
              <a:rPr lang="en-US" sz="6999">
                <a:solidFill>
                  <a:srgbClr val="D0604A"/>
                </a:solidFill>
                <a:latin typeface="Tenor Sans"/>
                <a:ea typeface="Tenor Sans"/>
                <a:cs typeface="Tenor Sans"/>
                <a:sym typeface="Tenor Sans"/>
              </a:rPr>
              <a:t>Contents</a:t>
            </a:r>
          </a:p>
        </p:txBody>
      </p:sp>
      <p:sp>
        <p:nvSpPr>
          <p:cNvPr name="TextBox 17" id="17"/>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09484E"/>
                </a:solidFill>
                <a:latin typeface="Poppins Light"/>
                <a:ea typeface="Poppins Light"/>
                <a:cs typeface="Poppins Light"/>
                <a:sym typeface="Poppins Light"/>
              </a:rPr>
              <a:t>BRIGHT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604A"/>
        </a:solidFill>
      </p:bgPr>
    </p:bg>
    <p:spTree>
      <p:nvGrpSpPr>
        <p:cNvPr id="1" name=""/>
        <p:cNvGrpSpPr/>
        <p:nvPr/>
      </p:nvGrpSpPr>
      <p:grpSpPr>
        <a:xfrm>
          <a:off x="0" y="0"/>
          <a:ext cx="0" cy="0"/>
          <a:chOff x="0" y="0"/>
          <a:chExt cx="0" cy="0"/>
        </a:xfrm>
      </p:grpSpPr>
      <p:grpSp>
        <p:nvGrpSpPr>
          <p:cNvPr name="Group 2" id="2"/>
          <p:cNvGrpSpPr/>
          <p:nvPr/>
        </p:nvGrpSpPr>
        <p:grpSpPr>
          <a:xfrm rot="0">
            <a:off x="-2675926" y="-1631672"/>
            <a:ext cx="7409253" cy="74092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484E"/>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340140" y="4634600"/>
            <a:ext cx="3283559" cy="5246370"/>
            <a:chOff x="0" y="0"/>
            <a:chExt cx="508709" cy="812800"/>
          </a:xfrm>
        </p:grpSpPr>
        <p:sp>
          <p:nvSpPr>
            <p:cNvPr name="Freeform 7" id="7"/>
            <p:cNvSpPr/>
            <p:nvPr/>
          </p:nvSpPr>
          <p:spPr>
            <a:xfrm flipH="false" flipV="false" rot="0">
              <a:off x="0" y="0"/>
              <a:ext cx="508709" cy="812800"/>
            </a:xfrm>
            <a:custGeom>
              <a:avLst/>
              <a:gdLst/>
              <a:ahLst/>
              <a:cxnLst/>
              <a:rect r="r" b="b" t="t" l="l"/>
              <a:pathLst>
                <a:path h="812800" w="508709">
                  <a:moveTo>
                    <a:pt x="54229" y="0"/>
                  </a:moveTo>
                  <a:lnTo>
                    <a:pt x="454480" y="0"/>
                  </a:lnTo>
                  <a:cubicBezTo>
                    <a:pt x="484430" y="0"/>
                    <a:pt x="508709" y="24279"/>
                    <a:pt x="508709" y="54229"/>
                  </a:cubicBezTo>
                  <a:lnTo>
                    <a:pt x="508709" y="758571"/>
                  </a:lnTo>
                  <a:cubicBezTo>
                    <a:pt x="508709" y="788521"/>
                    <a:pt x="484430" y="812800"/>
                    <a:pt x="454480" y="812800"/>
                  </a:cubicBezTo>
                  <a:lnTo>
                    <a:pt x="54229" y="812800"/>
                  </a:lnTo>
                  <a:cubicBezTo>
                    <a:pt x="24279" y="812800"/>
                    <a:pt x="0" y="788521"/>
                    <a:pt x="0" y="758571"/>
                  </a:cubicBezTo>
                  <a:lnTo>
                    <a:pt x="0" y="54229"/>
                  </a:lnTo>
                  <a:cubicBezTo>
                    <a:pt x="0" y="24279"/>
                    <a:pt x="24279" y="0"/>
                    <a:pt x="54229" y="0"/>
                  </a:cubicBezTo>
                  <a:close/>
                </a:path>
              </a:pathLst>
            </a:custGeom>
            <a:blipFill>
              <a:blip r:embed="rId4"/>
              <a:stretch>
                <a:fillRect l="-3225" t="0" r="-3225" b="0"/>
              </a:stretch>
            </a:blipFill>
          </p:spPr>
        </p:sp>
      </p:grpSp>
      <p:sp>
        <p:nvSpPr>
          <p:cNvPr name="Freeform 8" id="8"/>
          <p:cNvSpPr/>
          <p:nvPr/>
        </p:nvSpPr>
        <p:spPr>
          <a:xfrm flipH="false" flipV="false" rot="0">
            <a:off x="9185414" y="2812816"/>
            <a:ext cx="12612414" cy="8229600"/>
          </a:xfrm>
          <a:custGeom>
            <a:avLst/>
            <a:gdLst/>
            <a:ahLst/>
            <a:cxnLst/>
            <a:rect r="r" b="b" t="t" l="l"/>
            <a:pathLst>
              <a:path h="8229600" w="12612414">
                <a:moveTo>
                  <a:pt x="0" y="0"/>
                </a:moveTo>
                <a:lnTo>
                  <a:pt x="12612414" y="0"/>
                </a:lnTo>
                <a:lnTo>
                  <a:pt x="12612414" y="8229600"/>
                </a:lnTo>
                <a:lnTo>
                  <a:pt x="0" y="8229600"/>
                </a:lnTo>
                <a:lnTo>
                  <a:pt x="0" y="0"/>
                </a:lnTo>
                <a:close/>
              </a:path>
            </a:pathLst>
          </a:custGeom>
          <a:blipFill>
            <a:blip r:embed="rId5">
              <a:alphaModFix amt="17000"/>
            </a:blip>
            <a:stretch>
              <a:fillRect l="0" t="0" r="0" b="0"/>
            </a:stretch>
          </a:blipFill>
        </p:spPr>
      </p:sp>
      <p:grpSp>
        <p:nvGrpSpPr>
          <p:cNvPr name="Group 9" id="9"/>
          <p:cNvGrpSpPr/>
          <p:nvPr/>
        </p:nvGrpSpPr>
        <p:grpSpPr>
          <a:xfrm rot="0">
            <a:off x="11819106" y="392711"/>
            <a:ext cx="6307771" cy="3956039"/>
            <a:chOff x="0" y="0"/>
            <a:chExt cx="977239" cy="612894"/>
          </a:xfrm>
        </p:grpSpPr>
        <p:sp>
          <p:nvSpPr>
            <p:cNvPr name="Freeform 10" id="10"/>
            <p:cNvSpPr/>
            <p:nvPr/>
          </p:nvSpPr>
          <p:spPr>
            <a:xfrm flipH="false" flipV="false" rot="0">
              <a:off x="0" y="0"/>
              <a:ext cx="977239" cy="612894"/>
            </a:xfrm>
            <a:custGeom>
              <a:avLst/>
              <a:gdLst/>
              <a:ahLst/>
              <a:cxnLst/>
              <a:rect r="r" b="b" t="t" l="l"/>
              <a:pathLst>
                <a:path h="612894" w="977239">
                  <a:moveTo>
                    <a:pt x="28229" y="0"/>
                  </a:moveTo>
                  <a:lnTo>
                    <a:pt x="949010" y="0"/>
                  </a:lnTo>
                  <a:cubicBezTo>
                    <a:pt x="964600" y="0"/>
                    <a:pt x="977239" y="12639"/>
                    <a:pt x="977239" y="28229"/>
                  </a:cubicBezTo>
                  <a:lnTo>
                    <a:pt x="977239" y="584665"/>
                  </a:lnTo>
                  <a:cubicBezTo>
                    <a:pt x="977239" y="592152"/>
                    <a:pt x="974265" y="599332"/>
                    <a:pt x="968971" y="604626"/>
                  </a:cubicBezTo>
                  <a:cubicBezTo>
                    <a:pt x="963677" y="609920"/>
                    <a:pt x="956496" y="612894"/>
                    <a:pt x="949010" y="612894"/>
                  </a:cubicBezTo>
                  <a:lnTo>
                    <a:pt x="28229" y="612894"/>
                  </a:lnTo>
                  <a:cubicBezTo>
                    <a:pt x="12639" y="612894"/>
                    <a:pt x="0" y="600255"/>
                    <a:pt x="0" y="584665"/>
                  </a:cubicBezTo>
                  <a:lnTo>
                    <a:pt x="0" y="28229"/>
                  </a:lnTo>
                  <a:cubicBezTo>
                    <a:pt x="0" y="12639"/>
                    <a:pt x="12639" y="0"/>
                    <a:pt x="28229" y="0"/>
                  </a:cubicBezTo>
                  <a:close/>
                </a:path>
              </a:pathLst>
            </a:custGeom>
            <a:blipFill>
              <a:blip r:embed="rId6"/>
              <a:stretch>
                <a:fillRect l="0" t="-3115" r="0" b="-3115"/>
              </a:stretch>
            </a:blipFill>
          </p:spPr>
        </p:sp>
      </p:grpSp>
      <p:grpSp>
        <p:nvGrpSpPr>
          <p:cNvPr name="Group 11" id="11"/>
          <p:cNvGrpSpPr/>
          <p:nvPr/>
        </p:nvGrpSpPr>
        <p:grpSpPr>
          <a:xfrm rot="0">
            <a:off x="6479827" y="8999939"/>
            <a:ext cx="3283559" cy="657701"/>
            <a:chOff x="0" y="0"/>
            <a:chExt cx="2028945" cy="406400"/>
          </a:xfrm>
        </p:grpSpPr>
        <p:sp>
          <p:nvSpPr>
            <p:cNvPr name="Freeform 12" id="12"/>
            <p:cNvSpPr/>
            <p:nvPr/>
          </p:nvSpPr>
          <p:spPr>
            <a:xfrm flipH="false" flipV="false" rot="0">
              <a:off x="0" y="0"/>
              <a:ext cx="2028945" cy="406400"/>
            </a:xfrm>
            <a:custGeom>
              <a:avLst/>
              <a:gdLst/>
              <a:ahLst/>
              <a:cxnLst/>
              <a:rect r="r" b="b" t="t" l="l"/>
              <a:pathLst>
                <a:path h="406400" w="2028945">
                  <a:moveTo>
                    <a:pt x="1825745" y="0"/>
                  </a:moveTo>
                  <a:cubicBezTo>
                    <a:pt x="1937969" y="0"/>
                    <a:pt x="2028945" y="90976"/>
                    <a:pt x="2028945" y="203200"/>
                  </a:cubicBezTo>
                  <a:cubicBezTo>
                    <a:pt x="2028945" y="315424"/>
                    <a:pt x="1937969" y="406400"/>
                    <a:pt x="1825745" y="406400"/>
                  </a:cubicBezTo>
                  <a:lnTo>
                    <a:pt x="203200" y="406400"/>
                  </a:lnTo>
                  <a:cubicBezTo>
                    <a:pt x="90976" y="406400"/>
                    <a:pt x="0" y="315424"/>
                    <a:pt x="0" y="203200"/>
                  </a:cubicBezTo>
                  <a:cubicBezTo>
                    <a:pt x="0" y="90976"/>
                    <a:pt x="90976" y="0"/>
                    <a:pt x="203200" y="0"/>
                  </a:cubicBezTo>
                  <a:close/>
                </a:path>
              </a:pathLst>
            </a:custGeom>
            <a:solidFill>
              <a:srgbClr val="F2E3CD"/>
            </a:solidFill>
          </p:spPr>
        </p:sp>
        <p:sp>
          <p:nvSpPr>
            <p:cNvPr name="TextBox 13" id="13"/>
            <p:cNvSpPr txBox="true"/>
            <p:nvPr/>
          </p:nvSpPr>
          <p:spPr>
            <a:xfrm>
              <a:off x="0" y="-57150"/>
              <a:ext cx="2028945" cy="463550"/>
            </a:xfrm>
            <a:prstGeom prst="rect">
              <a:avLst/>
            </a:prstGeom>
          </p:spPr>
          <p:txBody>
            <a:bodyPr anchor="ctr" rtlCol="false" tIns="50800" lIns="50800" bIns="50800" rIns="50800"/>
            <a:lstStyle/>
            <a:p>
              <a:pPr algn="ctr">
                <a:lnSpc>
                  <a:spcPts val="2799"/>
                </a:lnSpc>
              </a:pPr>
            </a:p>
          </p:txBody>
        </p:sp>
      </p:grpSp>
      <p:sp>
        <p:nvSpPr>
          <p:cNvPr name="TextBox 14" id="14"/>
          <p:cNvSpPr txBox="true"/>
          <p:nvPr/>
        </p:nvSpPr>
        <p:spPr>
          <a:xfrm rot="0">
            <a:off x="1028700" y="8219191"/>
            <a:ext cx="1430904" cy="1387408"/>
          </a:xfrm>
          <a:prstGeom prst="rect">
            <a:avLst/>
          </a:prstGeom>
        </p:spPr>
        <p:txBody>
          <a:bodyPr anchor="t" rtlCol="false" tIns="0" lIns="0" bIns="0" rIns="0">
            <a:spAutoFit/>
          </a:bodyPr>
          <a:lstStyle/>
          <a:p>
            <a:pPr algn="l">
              <a:lnSpc>
                <a:spcPts val="11200"/>
              </a:lnSpc>
            </a:pPr>
            <a:r>
              <a:rPr lang="en-US" sz="8000">
                <a:solidFill>
                  <a:srgbClr val="F2E3CD"/>
                </a:solidFill>
                <a:latin typeface="Tenor Sans"/>
                <a:ea typeface="Tenor Sans"/>
                <a:cs typeface="Tenor Sans"/>
                <a:sym typeface="Tenor Sans"/>
              </a:rPr>
              <a:t>02</a:t>
            </a:r>
          </a:p>
        </p:txBody>
      </p:sp>
      <p:sp>
        <p:nvSpPr>
          <p:cNvPr name="TextBox 15" id="15"/>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
        <p:nvSpPr>
          <p:cNvPr name="TextBox 16" id="16"/>
          <p:cNvSpPr txBox="true"/>
          <p:nvPr/>
        </p:nvSpPr>
        <p:spPr>
          <a:xfrm rot="0">
            <a:off x="6236673" y="4377325"/>
            <a:ext cx="3769866" cy="481331"/>
          </a:xfrm>
          <a:prstGeom prst="rect">
            <a:avLst/>
          </a:prstGeom>
        </p:spPr>
        <p:txBody>
          <a:bodyPr anchor="t" rtlCol="false" tIns="0" lIns="0" bIns="0" rIns="0">
            <a:spAutoFit/>
          </a:bodyPr>
          <a:lstStyle/>
          <a:p>
            <a:pPr algn="l">
              <a:lnSpc>
                <a:spcPts val="3740"/>
              </a:lnSpc>
            </a:pPr>
            <a:r>
              <a:rPr lang="en-US" sz="3400" u="sng">
                <a:solidFill>
                  <a:srgbClr val="F2E3CD"/>
                </a:solidFill>
                <a:latin typeface="Tenor Sans"/>
                <a:ea typeface="Tenor Sans"/>
                <a:cs typeface="Tenor Sans"/>
                <a:sym typeface="Tenor Sans"/>
              </a:rPr>
              <a:t>INTRODUCTION</a:t>
            </a:r>
          </a:p>
        </p:txBody>
      </p:sp>
      <p:sp>
        <p:nvSpPr>
          <p:cNvPr name="TextBox 17" id="17"/>
          <p:cNvSpPr txBox="true"/>
          <p:nvPr/>
        </p:nvSpPr>
        <p:spPr>
          <a:xfrm rot="0">
            <a:off x="4424107" y="5531568"/>
            <a:ext cx="7394999" cy="2734946"/>
          </a:xfrm>
          <a:prstGeom prst="rect">
            <a:avLst/>
          </a:prstGeom>
        </p:spPr>
        <p:txBody>
          <a:bodyPr anchor="t" rtlCol="false" tIns="0" lIns="0" bIns="0" rIns="0">
            <a:spAutoFit/>
          </a:bodyPr>
          <a:lstStyle/>
          <a:p>
            <a:pPr algn="just">
              <a:lnSpc>
                <a:spcPts val="3079"/>
              </a:lnSpc>
            </a:pPr>
            <a:r>
              <a:rPr lang="en-US" sz="2199">
                <a:solidFill>
                  <a:srgbClr val="F2E3CD"/>
                </a:solidFill>
                <a:latin typeface="Poppins Light"/>
                <a:ea typeface="Poppins Light"/>
                <a:cs typeface="Poppins Light"/>
                <a:sym typeface="Poppins Light"/>
              </a:rPr>
              <a:t>This report is based on an analysis done for Bright Coffee which has 3 distinct locations namely: Lower Manhattan, Hell’s Kitchen and Astoria. The purpose of the report is to assist the coming in CEO to make informed decisions based on the sales trends and revenue. At the end of the presentation there will also be recommendations provided.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9484E"/>
        </a:solidFill>
      </p:bgPr>
    </p:bg>
    <p:spTree>
      <p:nvGrpSpPr>
        <p:cNvPr id="1" name=""/>
        <p:cNvGrpSpPr/>
        <p:nvPr/>
      </p:nvGrpSpPr>
      <p:grpSpPr>
        <a:xfrm>
          <a:off x="0" y="0"/>
          <a:ext cx="0" cy="0"/>
          <a:chOff x="0" y="0"/>
          <a:chExt cx="0" cy="0"/>
        </a:xfrm>
      </p:grpSpPr>
      <p:grpSp>
        <p:nvGrpSpPr>
          <p:cNvPr name="Group 2" id="2"/>
          <p:cNvGrpSpPr/>
          <p:nvPr/>
        </p:nvGrpSpPr>
        <p:grpSpPr>
          <a:xfrm rot="0">
            <a:off x="-2915517" y="4706104"/>
            <a:ext cx="7888433" cy="788843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6F5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1805737" y="5143500"/>
            <a:ext cx="4399626" cy="125857"/>
            <a:chOff x="0" y="0"/>
            <a:chExt cx="14206657" cy="406400"/>
          </a:xfrm>
        </p:grpSpPr>
        <p:sp>
          <p:nvSpPr>
            <p:cNvPr name="Freeform 7" id="7"/>
            <p:cNvSpPr/>
            <p:nvPr/>
          </p:nvSpPr>
          <p:spPr>
            <a:xfrm flipH="false" flipV="false" rot="0">
              <a:off x="0" y="0"/>
              <a:ext cx="14206657" cy="406400"/>
            </a:xfrm>
            <a:custGeom>
              <a:avLst/>
              <a:gdLst/>
              <a:ahLst/>
              <a:cxnLst/>
              <a:rect r="r" b="b" t="t" l="l"/>
              <a:pathLst>
                <a:path h="406400" w="14206657">
                  <a:moveTo>
                    <a:pt x="14003457" y="0"/>
                  </a:moveTo>
                  <a:cubicBezTo>
                    <a:pt x="14115681" y="0"/>
                    <a:pt x="14206657" y="90976"/>
                    <a:pt x="14206657" y="203200"/>
                  </a:cubicBezTo>
                  <a:cubicBezTo>
                    <a:pt x="14206657" y="315424"/>
                    <a:pt x="14115681" y="406400"/>
                    <a:pt x="14003457" y="406400"/>
                  </a:cubicBezTo>
                  <a:lnTo>
                    <a:pt x="203200" y="406400"/>
                  </a:lnTo>
                  <a:cubicBezTo>
                    <a:pt x="90976" y="406400"/>
                    <a:pt x="0" y="315424"/>
                    <a:pt x="0" y="203200"/>
                  </a:cubicBezTo>
                  <a:cubicBezTo>
                    <a:pt x="0" y="90976"/>
                    <a:pt x="90976" y="0"/>
                    <a:pt x="203200" y="0"/>
                  </a:cubicBezTo>
                  <a:close/>
                </a:path>
              </a:pathLst>
            </a:custGeom>
            <a:solidFill>
              <a:srgbClr val="E9755E"/>
            </a:solidFill>
          </p:spPr>
        </p:sp>
        <p:sp>
          <p:nvSpPr>
            <p:cNvPr name="TextBox 8" id="8"/>
            <p:cNvSpPr txBox="true"/>
            <p:nvPr/>
          </p:nvSpPr>
          <p:spPr>
            <a:xfrm>
              <a:off x="0" y="-57150"/>
              <a:ext cx="14206657" cy="463550"/>
            </a:xfrm>
            <a:prstGeom prst="rect">
              <a:avLst/>
            </a:prstGeom>
          </p:spPr>
          <p:txBody>
            <a:bodyPr anchor="ctr" rtlCol="false" tIns="50800" lIns="50800" bIns="50800" rIns="50800"/>
            <a:lstStyle/>
            <a:p>
              <a:pPr algn="ctr">
                <a:lnSpc>
                  <a:spcPts val="2799"/>
                </a:lnSpc>
              </a:pPr>
            </a:p>
          </p:txBody>
        </p:sp>
      </p:grpSp>
      <p:sp>
        <p:nvSpPr>
          <p:cNvPr name="Freeform 9" id="9"/>
          <p:cNvSpPr/>
          <p:nvPr/>
        </p:nvSpPr>
        <p:spPr>
          <a:xfrm flipH="false" flipV="false" rot="0">
            <a:off x="5208535" y="2614245"/>
            <a:ext cx="6359213" cy="5058510"/>
          </a:xfrm>
          <a:custGeom>
            <a:avLst/>
            <a:gdLst/>
            <a:ahLst/>
            <a:cxnLst/>
            <a:rect r="r" b="b" t="t" l="l"/>
            <a:pathLst>
              <a:path h="5058510" w="6359213">
                <a:moveTo>
                  <a:pt x="0" y="0"/>
                </a:moveTo>
                <a:lnTo>
                  <a:pt x="6359213" y="0"/>
                </a:lnTo>
                <a:lnTo>
                  <a:pt x="6359213" y="5058510"/>
                </a:lnTo>
                <a:lnTo>
                  <a:pt x="0" y="5058510"/>
                </a:lnTo>
                <a:lnTo>
                  <a:pt x="0" y="0"/>
                </a:lnTo>
                <a:close/>
              </a:path>
            </a:pathLst>
          </a:custGeom>
          <a:blipFill>
            <a:blip r:embed="rId4"/>
            <a:stretch>
              <a:fillRect l="-1006" t="-11649" r="0" b="-15328"/>
            </a:stretch>
          </a:blipFill>
        </p:spPr>
      </p:sp>
      <p:sp>
        <p:nvSpPr>
          <p:cNvPr name="TextBox 10" id="10"/>
          <p:cNvSpPr txBox="true"/>
          <p:nvPr/>
        </p:nvSpPr>
        <p:spPr>
          <a:xfrm rot="0">
            <a:off x="11803367" y="2527316"/>
            <a:ext cx="4040419" cy="2432050"/>
          </a:xfrm>
          <a:prstGeom prst="rect">
            <a:avLst/>
          </a:prstGeom>
        </p:spPr>
        <p:txBody>
          <a:bodyPr anchor="t" rtlCol="false" tIns="0" lIns="0" bIns="0" rIns="0">
            <a:spAutoFit/>
          </a:bodyPr>
          <a:lstStyle/>
          <a:p>
            <a:pPr algn="l">
              <a:lnSpc>
                <a:spcPts val="9799"/>
              </a:lnSpc>
              <a:spcBef>
                <a:spcPct val="0"/>
              </a:spcBef>
            </a:pPr>
            <a:r>
              <a:rPr lang="en-US" sz="6999">
                <a:solidFill>
                  <a:srgbClr val="F2E3CD"/>
                </a:solidFill>
                <a:latin typeface="Tenor Sans"/>
                <a:ea typeface="Tenor Sans"/>
                <a:cs typeface="Tenor Sans"/>
                <a:sym typeface="Tenor Sans"/>
              </a:rPr>
              <a:t>Data systems</a:t>
            </a:r>
          </a:p>
        </p:txBody>
      </p:sp>
      <p:sp>
        <p:nvSpPr>
          <p:cNvPr name="TextBox 11" id="11"/>
          <p:cNvSpPr txBox="true"/>
          <p:nvPr/>
        </p:nvSpPr>
        <p:spPr>
          <a:xfrm rot="0">
            <a:off x="11803367" y="5838013"/>
            <a:ext cx="4740481" cy="1563371"/>
          </a:xfrm>
          <a:prstGeom prst="rect">
            <a:avLst/>
          </a:prstGeom>
        </p:spPr>
        <p:txBody>
          <a:bodyPr anchor="t" rtlCol="false" tIns="0" lIns="0" bIns="0" rIns="0">
            <a:spAutoFit/>
          </a:bodyPr>
          <a:lstStyle/>
          <a:p>
            <a:pPr algn="l" marL="474975" indent="-237487" lvl="1">
              <a:lnSpc>
                <a:spcPts val="3079"/>
              </a:lnSpc>
              <a:buFont typeface="Arial"/>
              <a:buChar char="•"/>
            </a:pPr>
            <a:r>
              <a:rPr lang="en-US" sz="2199">
                <a:solidFill>
                  <a:srgbClr val="F2E3CD"/>
                </a:solidFill>
                <a:latin typeface="Poppins Light"/>
                <a:ea typeface="Poppins Light"/>
                <a:cs typeface="Poppins Light"/>
                <a:sym typeface="Poppins Light"/>
              </a:rPr>
              <a:t>SQL</a:t>
            </a:r>
          </a:p>
          <a:p>
            <a:pPr algn="l" marL="474975" indent="-237487" lvl="1">
              <a:lnSpc>
                <a:spcPts val="3079"/>
              </a:lnSpc>
              <a:buFont typeface="Arial"/>
              <a:buChar char="•"/>
            </a:pPr>
            <a:r>
              <a:rPr lang="en-US" sz="2199">
                <a:solidFill>
                  <a:srgbClr val="F2E3CD"/>
                </a:solidFill>
                <a:latin typeface="Poppins Light"/>
                <a:ea typeface="Poppins Light"/>
                <a:cs typeface="Poppins Light"/>
                <a:sym typeface="Poppins Light"/>
              </a:rPr>
              <a:t>Databricks</a:t>
            </a:r>
          </a:p>
          <a:p>
            <a:pPr algn="l" marL="474975" indent="-237487" lvl="1">
              <a:lnSpc>
                <a:spcPts val="3079"/>
              </a:lnSpc>
              <a:buFont typeface="Arial"/>
              <a:buChar char="•"/>
            </a:pPr>
            <a:r>
              <a:rPr lang="en-US" sz="2199">
                <a:solidFill>
                  <a:srgbClr val="F2E3CD"/>
                </a:solidFill>
                <a:latin typeface="Poppins Light"/>
                <a:ea typeface="Poppins Light"/>
                <a:cs typeface="Poppins Light"/>
                <a:sym typeface="Poppins Light"/>
              </a:rPr>
              <a:t>Excel</a:t>
            </a:r>
          </a:p>
          <a:p>
            <a:pPr algn="l" marL="474975" indent="-237487" lvl="1">
              <a:lnSpc>
                <a:spcPts val="3079"/>
              </a:lnSpc>
              <a:buFont typeface="Arial"/>
              <a:buChar char="•"/>
            </a:pPr>
            <a:r>
              <a:rPr lang="en-US" sz="2199">
                <a:solidFill>
                  <a:srgbClr val="F2E3CD"/>
                </a:solidFill>
                <a:latin typeface="Poppins Light"/>
                <a:ea typeface="Poppins Light"/>
                <a:cs typeface="Poppins Light"/>
                <a:sym typeface="Poppins Light"/>
              </a:rPr>
              <a:t>Raw data(CSV)</a:t>
            </a:r>
          </a:p>
        </p:txBody>
      </p:sp>
      <p:sp>
        <p:nvSpPr>
          <p:cNvPr name="TextBox 12" id="12"/>
          <p:cNvSpPr txBox="true"/>
          <p:nvPr/>
        </p:nvSpPr>
        <p:spPr>
          <a:xfrm rot="0">
            <a:off x="15828396" y="7870892"/>
            <a:ext cx="1430904" cy="1387408"/>
          </a:xfrm>
          <a:prstGeom prst="rect">
            <a:avLst/>
          </a:prstGeom>
        </p:spPr>
        <p:txBody>
          <a:bodyPr anchor="t" rtlCol="false" tIns="0" lIns="0" bIns="0" rIns="0">
            <a:spAutoFit/>
          </a:bodyPr>
          <a:lstStyle/>
          <a:p>
            <a:pPr algn="r">
              <a:lnSpc>
                <a:spcPts val="11200"/>
              </a:lnSpc>
            </a:pPr>
            <a:r>
              <a:rPr lang="en-US" sz="8000">
                <a:solidFill>
                  <a:srgbClr val="F2E3CD"/>
                </a:solidFill>
                <a:latin typeface="Tenor Sans"/>
                <a:ea typeface="Tenor Sans"/>
                <a:cs typeface="Tenor Sans"/>
                <a:sym typeface="Tenor Sans"/>
              </a:rPr>
              <a:t>03</a:t>
            </a:r>
          </a:p>
        </p:txBody>
      </p:sp>
      <p:sp>
        <p:nvSpPr>
          <p:cNvPr name="TextBox 13" id="13"/>
          <p:cNvSpPr txBox="true"/>
          <p:nvPr/>
        </p:nvSpPr>
        <p:spPr>
          <a:xfrm rot="0">
            <a:off x="11567748" y="820754"/>
            <a:ext cx="6468014" cy="782321"/>
          </a:xfrm>
          <a:prstGeom prst="rect">
            <a:avLst/>
          </a:prstGeom>
        </p:spPr>
        <p:txBody>
          <a:bodyPr anchor="t" rtlCol="false" tIns="0" lIns="0" bIns="0" rIns="0">
            <a:spAutoFit/>
          </a:bodyPr>
          <a:lstStyle/>
          <a:p>
            <a:pPr algn="just">
              <a:lnSpc>
                <a:spcPts val="3079"/>
              </a:lnSpc>
            </a:pPr>
            <a:r>
              <a:rPr lang="en-US" sz="2199" b="true">
                <a:solidFill>
                  <a:srgbClr val="F2E3CD"/>
                </a:solidFill>
                <a:latin typeface="Poppins Bold"/>
                <a:ea typeface="Poppins Bold"/>
                <a:cs typeface="Poppins Bold"/>
                <a:sym typeface="Poppins Bold"/>
              </a:rPr>
              <a:t>INSIGHTS: THE FOLLOWING DATA SYSTEMS WERE USED TO COMPILE THIS REPORT.</a:t>
            </a:r>
          </a:p>
        </p:txBody>
      </p:sp>
      <p:sp>
        <p:nvSpPr>
          <p:cNvPr name="TextBox 14" id="14"/>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E3CD"/>
        </a:solidFill>
      </p:bgPr>
    </p:bg>
    <p:spTree>
      <p:nvGrpSpPr>
        <p:cNvPr id="1" name=""/>
        <p:cNvGrpSpPr/>
        <p:nvPr/>
      </p:nvGrpSpPr>
      <p:grpSpPr>
        <a:xfrm>
          <a:off x="0" y="0"/>
          <a:ext cx="0" cy="0"/>
          <a:chOff x="0" y="0"/>
          <a:chExt cx="0" cy="0"/>
        </a:xfrm>
      </p:grpSpPr>
      <p:grpSp>
        <p:nvGrpSpPr>
          <p:cNvPr name="Group 2" id="2"/>
          <p:cNvGrpSpPr/>
          <p:nvPr/>
        </p:nvGrpSpPr>
        <p:grpSpPr>
          <a:xfrm rot="0">
            <a:off x="17018037" y="1438874"/>
            <a:ext cx="7409253" cy="74092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6F5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6151712" y="1438874"/>
            <a:ext cx="7409253" cy="740925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6F59"/>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2459604" y="1303335"/>
            <a:ext cx="12612414" cy="8229600"/>
          </a:xfrm>
          <a:custGeom>
            <a:avLst/>
            <a:gdLst/>
            <a:ahLst/>
            <a:cxnLst/>
            <a:rect r="r" b="b" t="t" l="l"/>
            <a:pathLst>
              <a:path h="8229600" w="12612414">
                <a:moveTo>
                  <a:pt x="0" y="0"/>
                </a:moveTo>
                <a:lnTo>
                  <a:pt x="12612414" y="0"/>
                </a:lnTo>
                <a:lnTo>
                  <a:pt x="12612414" y="8229600"/>
                </a:lnTo>
                <a:lnTo>
                  <a:pt x="0" y="8229600"/>
                </a:lnTo>
                <a:lnTo>
                  <a:pt x="0" y="0"/>
                </a:lnTo>
                <a:close/>
              </a:path>
            </a:pathLst>
          </a:custGeom>
          <a:blipFill>
            <a:blip r:embed="rId2">
              <a:alphaModFix amt="17000"/>
            </a:blip>
            <a:stretch>
              <a:fillRect l="0" t="0" r="0" b="0"/>
            </a:stretch>
          </a:blipFill>
        </p:spPr>
      </p:sp>
      <p:sp>
        <p:nvSpPr>
          <p:cNvPr name="Freeform 9" id="9"/>
          <p:cNvSpPr/>
          <p:nvPr/>
        </p:nvSpPr>
        <p:spPr>
          <a:xfrm flipH="false" flipV="false" rot="0">
            <a:off x="1028700" y="826383"/>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477905" y="2977229"/>
            <a:ext cx="9332191" cy="5594159"/>
          </a:xfrm>
          <a:custGeom>
            <a:avLst/>
            <a:gdLst/>
            <a:ahLst/>
            <a:cxnLst/>
            <a:rect r="r" b="b" t="t" l="l"/>
            <a:pathLst>
              <a:path h="5594159" w="9332191">
                <a:moveTo>
                  <a:pt x="0" y="0"/>
                </a:moveTo>
                <a:lnTo>
                  <a:pt x="9332190" y="0"/>
                </a:lnTo>
                <a:lnTo>
                  <a:pt x="9332190" y="5594159"/>
                </a:lnTo>
                <a:lnTo>
                  <a:pt x="0" y="5594159"/>
                </a:lnTo>
                <a:lnTo>
                  <a:pt x="0" y="0"/>
                </a:lnTo>
                <a:close/>
              </a:path>
            </a:pathLst>
          </a:custGeom>
          <a:blipFill>
            <a:blip r:embed="rId5"/>
            <a:stretch>
              <a:fillRect l="0" t="0" r="0" b="0"/>
            </a:stretch>
          </a:blipFill>
        </p:spPr>
      </p:sp>
      <p:sp>
        <p:nvSpPr>
          <p:cNvPr name="TextBox 11" id="11"/>
          <p:cNvSpPr txBox="true"/>
          <p:nvPr/>
        </p:nvSpPr>
        <p:spPr>
          <a:xfrm rot="0">
            <a:off x="4270989" y="1783429"/>
            <a:ext cx="9741939" cy="1193800"/>
          </a:xfrm>
          <a:prstGeom prst="rect">
            <a:avLst/>
          </a:prstGeom>
        </p:spPr>
        <p:txBody>
          <a:bodyPr anchor="t" rtlCol="false" tIns="0" lIns="0" bIns="0" rIns="0">
            <a:spAutoFit/>
          </a:bodyPr>
          <a:lstStyle/>
          <a:p>
            <a:pPr algn="ctr">
              <a:lnSpc>
                <a:spcPts val="9799"/>
              </a:lnSpc>
              <a:spcBef>
                <a:spcPct val="0"/>
              </a:spcBef>
            </a:pPr>
            <a:r>
              <a:rPr lang="en-US" sz="6999">
                <a:solidFill>
                  <a:srgbClr val="D0604A"/>
                </a:solidFill>
                <a:latin typeface="Tenor Sans"/>
                <a:ea typeface="Tenor Sans"/>
                <a:cs typeface="Tenor Sans"/>
                <a:sym typeface="Tenor Sans"/>
              </a:rPr>
              <a:t>ANALYSIS</a:t>
            </a:r>
          </a:p>
        </p:txBody>
      </p:sp>
      <p:sp>
        <p:nvSpPr>
          <p:cNvPr name="TextBox 12" id="12"/>
          <p:cNvSpPr txBox="true"/>
          <p:nvPr/>
        </p:nvSpPr>
        <p:spPr>
          <a:xfrm rot="0">
            <a:off x="1028700" y="8219191"/>
            <a:ext cx="1430904" cy="1387408"/>
          </a:xfrm>
          <a:prstGeom prst="rect">
            <a:avLst/>
          </a:prstGeom>
        </p:spPr>
        <p:txBody>
          <a:bodyPr anchor="t" rtlCol="false" tIns="0" lIns="0" bIns="0" rIns="0">
            <a:spAutoFit/>
          </a:bodyPr>
          <a:lstStyle/>
          <a:p>
            <a:pPr algn="l">
              <a:lnSpc>
                <a:spcPts val="11200"/>
              </a:lnSpc>
            </a:pPr>
            <a:r>
              <a:rPr lang="en-US" sz="8000">
                <a:solidFill>
                  <a:srgbClr val="09484E"/>
                </a:solidFill>
                <a:latin typeface="Tenor Sans"/>
                <a:ea typeface="Tenor Sans"/>
                <a:cs typeface="Tenor Sans"/>
                <a:sym typeface="Tenor Sans"/>
              </a:rPr>
              <a:t>04</a:t>
            </a:r>
          </a:p>
        </p:txBody>
      </p:sp>
      <p:sp>
        <p:nvSpPr>
          <p:cNvPr name="TextBox 13" id="13"/>
          <p:cNvSpPr txBox="true"/>
          <p:nvPr/>
        </p:nvSpPr>
        <p:spPr>
          <a:xfrm rot="0">
            <a:off x="7944180" y="467608"/>
            <a:ext cx="9073857" cy="798831"/>
          </a:xfrm>
          <a:prstGeom prst="rect">
            <a:avLst/>
          </a:prstGeom>
        </p:spPr>
        <p:txBody>
          <a:bodyPr anchor="t" rtlCol="false" tIns="0" lIns="0" bIns="0" rIns="0">
            <a:spAutoFit/>
          </a:bodyPr>
          <a:lstStyle/>
          <a:p>
            <a:pPr algn="just">
              <a:lnSpc>
                <a:spcPts val="3219"/>
              </a:lnSpc>
            </a:pPr>
            <a:r>
              <a:rPr lang="en-US" sz="2299">
                <a:solidFill>
                  <a:srgbClr val="09484E"/>
                </a:solidFill>
                <a:latin typeface="Tenor Sans"/>
                <a:ea typeface="Tenor Sans"/>
                <a:cs typeface="Tenor Sans"/>
                <a:sym typeface="Tenor Sans"/>
              </a:rPr>
              <a:t>THIS IS THE TOTAL REVENUE ACCUMULATED BY BRIGHT COFFEE FOR THE ANALYSIS PERIOD JAN - JUNE. </a:t>
            </a:r>
          </a:p>
        </p:txBody>
      </p:sp>
      <p:sp>
        <p:nvSpPr>
          <p:cNvPr name="TextBox 14" id="14"/>
          <p:cNvSpPr txBox="true"/>
          <p:nvPr/>
        </p:nvSpPr>
        <p:spPr>
          <a:xfrm rot="0">
            <a:off x="1545218" y="858835"/>
            <a:ext cx="1069874" cy="358776"/>
          </a:xfrm>
          <a:prstGeom prst="rect">
            <a:avLst/>
          </a:prstGeom>
        </p:spPr>
        <p:txBody>
          <a:bodyPr anchor="t" rtlCol="false" tIns="0" lIns="0" bIns="0" rIns="0">
            <a:spAutoFit/>
          </a:bodyPr>
          <a:lstStyle/>
          <a:p>
            <a:pPr algn="just">
              <a:lnSpc>
                <a:spcPts val="2799"/>
              </a:lnSpc>
            </a:pPr>
            <a:r>
              <a:rPr lang="en-US" sz="1999">
                <a:solidFill>
                  <a:srgbClr val="09484E"/>
                </a:solidFill>
                <a:latin typeface="Poppins Light"/>
                <a:ea typeface="Poppins Light"/>
                <a:cs typeface="Poppins Light"/>
                <a:sym typeface="Poppins Light"/>
              </a:rPr>
              <a:t>BRIGHT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0604A"/>
        </a:solidFill>
      </p:bgPr>
    </p:bg>
    <p:spTree>
      <p:nvGrpSpPr>
        <p:cNvPr id="1" name=""/>
        <p:cNvGrpSpPr/>
        <p:nvPr/>
      </p:nvGrpSpPr>
      <p:grpSpPr>
        <a:xfrm>
          <a:off x="0" y="0"/>
          <a:ext cx="0" cy="0"/>
          <a:chOff x="0" y="0"/>
          <a:chExt cx="0" cy="0"/>
        </a:xfrm>
      </p:grpSpPr>
      <p:grpSp>
        <p:nvGrpSpPr>
          <p:cNvPr name="Group 2" id="2"/>
          <p:cNvGrpSpPr/>
          <p:nvPr/>
        </p:nvGrpSpPr>
        <p:grpSpPr>
          <a:xfrm rot="0">
            <a:off x="-1864062" y="4575286"/>
            <a:ext cx="7888433" cy="788843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484E"/>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true" rot="0">
            <a:off x="10562817" y="202934"/>
            <a:ext cx="9350289" cy="9409096"/>
          </a:xfrm>
          <a:custGeom>
            <a:avLst/>
            <a:gdLst/>
            <a:ahLst/>
            <a:cxnLst/>
            <a:rect r="r" b="b" t="t" l="l"/>
            <a:pathLst>
              <a:path h="9409096" w="9350289">
                <a:moveTo>
                  <a:pt x="0" y="9409096"/>
                </a:moveTo>
                <a:lnTo>
                  <a:pt x="9350290" y="9409096"/>
                </a:lnTo>
                <a:lnTo>
                  <a:pt x="9350290" y="0"/>
                </a:lnTo>
                <a:lnTo>
                  <a:pt x="0" y="0"/>
                </a:lnTo>
                <a:lnTo>
                  <a:pt x="0" y="9409096"/>
                </a:lnTo>
                <a:close/>
              </a:path>
            </a:pathLst>
          </a:custGeom>
          <a:blipFill>
            <a:blip r:embed="rId2">
              <a:alphaModFix amt="17000"/>
            </a:blip>
            <a:stretch>
              <a:fillRect l="0" t="0" r="0" b="0"/>
            </a:stretch>
          </a:blipFill>
        </p:spPr>
      </p:sp>
      <p:sp>
        <p:nvSpPr>
          <p:cNvPr name="Freeform 6" id="6"/>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024371" y="3157681"/>
            <a:ext cx="12179538" cy="5099587"/>
          </a:xfrm>
          <a:custGeom>
            <a:avLst/>
            <a:gdLst/>
            <a:ahLst/>
            <a:cxnLst/>
            <a:rect r="r" b="b" t="t" l="l"/>
            <a:pathLst>
              <a:path h="5099587" w="12179538">
                <a:moveTo>
                  <a:pt x="0" y="0"/>
                </a:moveTo>
                <a:lnTo>
                  <a:pt x="12179538" y="0"/>
                </a:lnTo>
                <a:lnTo>
                  <a:pt x="12179538" y="5099587"/>
                </a:lnTo>
                <a:lnTo>
                  <a:pt x="0" y="5099587"/>
                </a:lnTo>
                <a:lnTo>
                  <a:pt x="0" y="0"/>
                </a:lnTo>
                <a:close/>
              </a:path>
            </a:pathLst>
          </a:custGeom>
          <a:blipFill>
            <a:blip r:embed="rId5"/>
            <a:stretch>
              <a:fillRect l="0" t="-1339" r="0" b="-4642"/>
            </a:stretch>
          </a:blipFill>
        </p:spPr>
      </p:sp>
      <p:sp>
        <p:nvSpPr>
          <p:cNvPr name="TextBox 8" id="8"/>
          <p:cNvSpPr txBox="true"/>
          <p:nvPr/>
        </p:nvSpPr>
        <p:spPr>
          <a:xfrm rot="0">
            <a:off x="8530005" y="820754"/>
            <a:ext cx="8310674" cy="1198881"/>
          </a:xfrm>
          <a:prstGeom prst="rect">
            <a:avLst/>
          </a:prstGeom>
        </p:spPr>
        <p:txBody>
          <a:bodyPr anchor="t" rtlCol="false" tIns="0" lIns="0" bIns="0" rIns="0">
            <a:spAutoFit/>
          </a:bodyPr>
          <a:lstStyle/>
          <a:p>
            <a:pPr algn="just">
              <a:lnSpc>
                <a:spcPts val="3219"/>
              </a:lnSpc>
            </a:pPr>
            <a:r>
              <a:rPr lang="en-US" sz="2299">
                <a:solidFill>
                  <a:srgbClr val="F2E3CD"/>
                </a:solidFill>
                <a:latin typeface="Tenor Sans"/>
                <a:ea typeface="Tenor Sans"/>
                <a:cs typeface="Tenor Sans"/>
                <a:sym typeface="Tenor Sans"/>
              </a:rPr>
              <a:t>INSIGHTS: THE BAR GRAPH BELOW SHOWS THE REVENUE BASED ON THE 3 DIFFERENT STORE LOCATIONS.</a:t>
            </a:r>
          </a:p>
        </p:txBody>
      </p:sp>
      <p:sp>
        <p:nvSpPr>
          <p:cNvPr name="TextBox 9" id="9"/>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
        <p:nvSpPr>
          <p:cNvPr name="TextBox 10" id="10"/>
          <p:cNvSpPr txBox="true"/>
          <p:nvPr/>
        </p:nvSpPr>
        <p:spPr>
          <a:xfrm rot="0">
            <a:off x="1028700" y="2378252"/>
            <a:ext cx="1430904" cy="1387408"/>
          </a:xfrm>
          <a:prstGeom prst="rect">
            <a:avLst/>
          </a:prstGeom>
        </p:spPr>
        <p:txBody>
          <a:bodyPr anchor="t" rtlCol="false" tIns="0" lIns="0" bIns="0" rIns="0">
            <a:spAutoFit/>
          </a:bodyPr>
          <a:lstStyle/>
          <a:p>
            <a:pPr algn="just">
              <a:lnSpc>
                <a:spcPts val="11200"/>
              </a:lnSpc>
            </a:pPr>
            <a:r>
              <a:rPr lang="en-US" sz="8000">
                <a:solidFill>
                  <a:srgbClr val="F2E3CD"/>
                </a:solidFill>
                <a:latin typeface="Tenor Sans"/>
                <a:ea typeface="Tenor Sans"/>
                <a:cs typeface="Tenor Sans"/>
                <a:sym typeface="Tenor Sans"/>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9484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867452" y="5833125"/>
            <a:ext cx="7888433" cy="788843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3CD"/>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6" id="6"/>
          <p:cNvSpPr/>
          <p:nvPr/>
        </p:nvSpPr>
        <p:spPr>
          <a:xfrm flipH="false" flipV="false" rot="0">
            <a:off x="1238065" y="2224701"/>
            <a:ext cx="11004099" cy="7037764"/>
          </a:xfrm>
          <a:custGeom>
            <a:avLst/>
            <a:gdLst/>
            <a:ahLst/>
            <a:cxnLst/>
            <a:rect r="r" b="b" t="t" l="l"/>
            <a:pathLst>
              <a:path h="7037764" w="11004099">
                <a:moveTo>
                  <a:pt x="0" y="0"/>
                </a:moveTo>
                <a:lnTo>
                  <a:pt x="11004099" y="0"/>
                </a:lnTo>
                <a:lnTo>
                  <a:pt x="11004099" y="7037763"/>
                </a:lnTo>
                <a:lnTo>
                  <a:pt x="0" y="7037763"/>
                </a:lnTo>
                <a:lnTo>
                  <a:pt x="0" y="0"/>
                </a:lnTo>
                <a:close/>
              </a:path>
            </a:pathLst>
          </a:custGeom>
          <a:blipFill>
            <a:blip r:embed="rId4"/>
            <a:stretch>
              <a:fillRect l="0" t="-523" r="0" b="-523"/>
            </a:stretch>
          </a:blipFill>
        </p:spPr>
      </p:sp>
      <p:sp>
        <p:nvSpPr>
          <p:cNvPr name="TextBox 7" id="7"/>
          <p:cNvSpPr txBox="true"/>
          <p:nvPr/>
        </p:nvSpPr>
        <p:spPr>
          <a:xfrm rot="0">
            <a:off x="15704357" y="1945506"/>
            <a:ext cx="1430904" cy="1387408"/>
          </a:xfrm>
          <a:prstGeom prst="rect">
            <a:avLst/>
          </a:prstGeom>
        </p:spPr>
        <p:txBody>
          <a:bodyPr anchor="t" rtlCol="false" tIns="0" lIns="0" bIns="0" rIns="0">
            <a:spAutoFit/>
          </a:bodyPr>
          <a:lstStyle/>
          <a:p>
            <a:pPr algn="r">
              <a:lnSpc>
                <a:spcPts val="11200"/>
              </a:lnSpc>
            </a:pPr>
            <a:r>
              <a:rPr lang="en-US" sz="8000">
                <a:solidFill>
                  <a:srgbClr val="F2E3CD"/>
                </a:solidFill>
                <a:latin typeface="Tenor Sans"/>
                <a:ea typeface="Tenor Sans"/>
                <a:cs typeface="Tenor Sans"/>
                <a:sym typeface="Tenor Sans"/>
              </a:rPr>
              <a:t>05</a:t>
            </a:r>
          </a:p>
        </p:txBody>
      </p:sp>
      <p:sp>
        <p:nvSpPr>
          <p:cNvPr name="TextBox 8" id="8"/>
          <p:cNvSpPr txBox="true"/>
          <p:nvPr/>
        </p:nvSpPr>
        <p:spPr>
          <a:xfrm rot="0">
            <a:off x="4452661" y="820754"/>
            <a:ext cx="13676833" cy="1198881"/>
          </a:xfrm>
          <a:prstGeom prst="rect">
            <a:avLst/>
          </a:prstGeom>
        </p:spPr>
        <p:txBody>
          <a:bodyPr anchor="t" rtlCol="false" tIns="0" lIns="0" bIns="0" rIns="0">
            <a:spAutoFit/>
          </a:bodyPr>
          <a:lstStyle/>
          <a:p>
            <a:pPr algn="just">
              <a:lnSpc>
                <a:spcPts val="3219"/>
              </a:lnSpc>
            </a:pPr>
            <a:r>
              <a:rPr lang="en-US" sz="2299">
                <a:solidFill>
                  <a:srgbClr val="F2E3CD"/>
                </a:solidFill>
                <a:latin typeface="Tenor Sans"/>
                <a:ea typeface="Tenor Sans"/>
                <a:cs typeface="Tenor Sans"/>
                <a:sym typeface="Tenor Sans"/>
              </a:rPr>
              <a:t>INSIGHTS: THE GRAPH BELOW BREAKS DOWN REVENUE FOR EACH STORE LOCATION EACH MONTH.</a:t>
            </a:r>
          </a:p>
          <a:p>
            <a:pPr algn="just">
              <a:lnSpc>
                <a:spcPts val="3219"/>
              </a:lnSpc>
            </a:pPr>
            <a:r>
              <a:rPr lang="en-US" sz="2299">
                <a:solidFill>
                  <a:srgbClr val="F2E3CD"/>
                </a:solidFill>
                <a:latin typeface="Tenor Sans"/>
                <a:ea typeface="Tenor Sans"/>
                <a:cs typeface="Tenor Sans"/>
                <a:sym typeface="Tenor Sans"/>
              </a:rPr>
              <a:t>IT SHOWS THAT BRIGHT COFFEE GENERATED MORE REVENUE IN COLDER MONTHS.</a:t>
            </a:r>
          </a:p>
        </p:txBody>
      </p:sp>
      <p:sp>
        <p:nvSpPr>
          <p:cNvPr name="TextBox 9" id="9"/>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785811" y="1763584"/>
            <a:ext cx="11087878" cy="6472767"/>
          </a:xfrm>
          <a:custGeom>
            <a:avLst/>
            <a:gdLst/>
            <a:ahLst/>
            <a:cxnLst/>
            <a:rect r="r" b="b" t="t" l="l"/>
            <a:pathLst>
              <a:path h="6472767" w="11087878">
                <a:moveTo>
                  <a:pt x="0" y="0"/>
                </a:moveTo>
                <a:lnTo>
                  <a:pt x="11087878" y="0"/>
                </a:lnTo>
                <a:lnTo>
                  <a:pt x="11087878" y="6472767"/>
                </a:lnTo>
                <a:lnTo>
                  <a:pt x="0" y="6472767"/>
                </a:lnTo>
                <a:lnTo>
                  <a:pt x="0" y="0"/>
                </a:lnTo>
                <a:close/>
              </a:path>
            </a:pathLst>
          </a:custGeom>
          <a:blipFill>
            <a:blip r:embed="rId5"/>
            <a:stretch>
              <a:fillRect l="0" t="0" r="0" b="0"/>
            </a:stretch>
          </a:blipFill>
        </p:spPr>
      </p:sp>
      <p:sp>
        <p:nvSpPr>
          <p:cNvPr name="TextBox 5" id="5"/>
          <p:cNvSpPr txBox="true"/>
          <p:nvPr/>
        </p:nvSpPr>
        <p:spPr>
          <a:xfrm rot="0">
            <a:off x="4640125" y="820754"/>
            <a:ext cx="13395637" cy="798831"/>
          </a:xfrm>
          <a:prstGeom prst="rect">
            <a:avLst/>
          </a:prstGeom>
        </p:spPr>
        <p:txBody>
          <a:bodyPr anchor="t" rtlCol="false" tIns="0" lIns="0" bIns="0" rIns="0">
            <a:spAutoFit/>
          </a:bodyPr>
          <a:lstStyle/>
          <a:p>
            <a:pPr algn="just">
              <a:lnSpc>
                <a:spcPts val="3219"/>
              </a:lnSpc>
            </a:pPr>
            <a:r>
              <a:rPr lang="en-US" sz="2299">
                <a:solidFill>
                  <a:srgbClr val="09484E"/>
                </a:solidFill>
                <a:latin typeface="Tenor Sans"/>
                <a:ea typeface="Tenor Sans"/>
                <a:cs typeface="Tenor Sans"/>
                <a:sym typeface="Tenor Sans"/>
              </a:rPr>
              <a:t>INSIGHTS: GRAPH BELOW</a:t>
            </a:r>
            <a:r>
              <a:rPr lang="en-US" sz="2299">
                <a:solidFill>
                  <a:srgbClr val="09484E"/>
                </a:solidFill>
                <a:latin typeface="Tenor Sans"/>
                <a:ea typeface="Tenor Sans"/>
                <a:cs typeface="Tenor Sans"/>
                <a:sym typeface="Tenor Sans"/>
              </a:rPr>
              <a:t> IS THE TOTAL REVENUE PER DAY OF WEEK.</a:t>
            </a:r>
            <a:r>
              <a:rPr lang="en-US" sz="2299">
                <a:solidFill>
                  <a:srgbClr val="09484E"/>
                </a:solidFill>
                <a:latin typeface="Tenor Sans"/>
                <a:ea typeface="Tenor Sans"/>
                <a:cs typeface="Tenor Sans"/>
                <a:sym typeface="Tenor Sans"/>
              </a:rPr>
              <a:t> </a:t>
            </a:r>
          </a:p>
          <a:p>
            <a:pPr algn="just">
              <a:lnSpc>
                <a:spcPts val="3219"/>
              </a:lnSpc>
            </a:pPr>
            <a:r>
              <a:rPr lang="en-US" sz="2299">
                <a:solidFill>
                  <a:srgbClr val="09484E"/>
                </a:solidFill>
                <a:latin typeface="Tenor Sans"/>
                <a:ea typeface="Tenor Sans"/>
                <a:cs typeface="Tenor Sans"/>
                <a:sym typeface="Tenor Sans"/>
              </a:rPr>
              <a:t>THIS IS SHOWING THAT THE OVERALL SALES TEND TO DECLINE OVER THE WEEKEND.</a:t>
            </a:r>
          </a:p>
        </p:txBody>
      </p:sp>
      <p:sp>
        <p:nvSpPr>
          <p:cNvPr name="TextBox 6" id="6"/>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09484E"/>
                </a:solidFill>
                <a:latin typeface="Poppins Light"/>
                <a:ea typeface="Poppins Light"/>
                <a:cs typeface="Poppins Light"/>
                <a:sym typeface="Poppins Light"/>
              </a:rPr>
              <a:t>BRIGHT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3C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018037" y="1438874"/>
            <a:ext cx="7409253" cy="74092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6F59"/>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6151712" y="1438874"/>
            <a:ext cx="7409253" cy="740925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E6F59"/>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9" id="9"/>
          <p:cNvSpPr/>
          <p:nvPr/>
        </p:nvSpPr>
        <p:spPr>
          <a:xfrm flipH="false" flipV="false" rot="0">
            <a:off x="3915537" y="2617577"/>
            <a:ext cx="10444503" cy="6230550"/>
          </a:xfrm>
          <a:custGeom>
            <a:avLst/>
            <a:gdLst/>
            <a:ahLst/>
            <a:cxnLst/>
            <a:rect r="r" b="b" t="t" l="l"/>
            <a:pathLst>
              <a:path h="6230550" w="10444503">
                <a:moveTo>
                  <a:pt x="0" y="0"/>
                </a:moveTo>
                <a:lnTo>
                  <a:pt x="10444504" y="0"/>
                </a:lnTo>
                <a:lnTo>
                  <a:pt x="10444504" y="6230549"/>
                </a:lnTo>
                <a:lnTo>
                  <a:pt x="0" y="6230549"/>
                </a:lnTo>
                <a:lnTo>
                  <a:pt x="0" y="0"/>
                </a:lnTo>
                <a:close/>
              </a:path>
            </a:pathLst>
          </a:custGeom>
          <a:blipFill>
            <a:blip r:embed="rId4"/>
            <a:stretch>
              <a:fillRect l="-495" t="-1484" r="-495" b="0"/>
            </a:stretch>
          </a:blipFill>
        </p:spPr>
      </p:sp>
      <p:sp>
        <p:nvSpPr>
          <p:cNvPr name="TextBox 10" id="10"/>
          <p:cNvSpPr txBox="true"/>
          <p:nvPr/>
        </p:nvSpPr>
        <p:spPr>
          <a:xfrm rot="0">
            <a:off x="5857168" y="820754"/>
            <a:ext cx="11402132" cy="1198881"/>
          </a:xfrm>
          <a:prstGeom prst="rect">
            <a:avLst/>
          </a:prstGeom>
        </p:spPr>
        <p:txBody>
          <a:bodyPr anchor="t" rtlCol="false" tIns="0" lIns="0" bIns="0" rIns="0">
            <a:spAutoFit/>
          </a:bodyPr>
          <a:lstStyle/>
          <a:p>
            <a:pPr algn="just">
              <a:lnSpc>
                <a:spcPts val="3219"/>
              </a:lnSpc>
            </a:pPr>
            <a:r>
              <a:rPr lang="en-US" sz="2299">
                <a:solidFill>
                  <a:srgbClr val="09484E"/>
                </a:solidFill>
                <a:latin typeface="Tenor Sans"/>
                <a:ea typeface="Tenor Sans"/>
                <a:cs typeface="Tenor Sans"/>
                <a:sym typeface="Tenor Sans"/>
              </a:rPr>
              <a:t>INSIGHTS: THIS GRAPH DISPLAYS THE DIFFERENT TIME BUCKETS: MORNING, AFTERNOON AND NIGHT.</a:t>
            </a:r>
          </a:p>
          <a:p>
            <a:pPr algn="just">
              <a:lnSpc>
                <a:spcPts val="3219"/>
              </a:lnSpc>
            </a:pPr>
            <a:r>
              <a:rPr lang="en-US" sz="2299">
                <a:solidFill>
                  <a:srgbClr val="09484E"/>
                </a:solidFill>
                <a:latin typeface="Tenor Sans"/>
                <a:ea typeface="Tenor Sans"/>
                <a:cs typeface="Tenor Sans"/>
                <a:sym typeface="Tenor Sans"/>
              </a:rPr>
              <a:t>BRIGHT COFFEE GENERATES MOST OF ITS REVENUE IN THE MORNING.</a:t>
            </a:r>
          </a:p>
        </p:txBody>
      </p:sp>
      <p:sp>
        <p:nvSpPr>
          <p:cNvPr name="TextBox 11" id="11"/>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09484E"/>
                </a:solidFill>
                <a:latin typeface="Poppins Light"/>
                <a:ea typeface="Poppins Light"/>
                <a:cs typeface="Poppins Light"/>
                <a:sym typeface="Poppins Light"/>
              </a:rPr>
              <a:t>BRIGHT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028700" y="788302"/>
            <a:ext cx="418730" cy="480796"/>
          </a:xfrm>
          <a:custGeom>
            <a:avLst/>
            <a:gdLst/>
            <a:ahLst/>
            <a:cxnLst/>
            <a:rect r="r" b="b" t="t" l="l"/>
            <a:pathLst>
              <a:path h="480796" w="418730">
                <a:moveTo>
                  <a:pt x="0" y="0"/>
                </a:moveTo>
                <a:lnTo>
                  <a:pt x="418730" y="0"/>
                </a:lnTo>
                <a:lnTo>
                  <a:pt x="418730" y="480796"/>
                </a:lnTo>
                <a:lnTo>
                  <a:pt x="0" y="480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08961" y="2019634"/>
            <a:ext cx="11571061" cy="7570898"/>
          </a:xfrm>
          <a:custGeom>
            <a:avLst/>
            <a:gdLst/>
            <a:ahLst/>
            <a:cxnLst/>
            <a:rect r="r" b="b" t="t" l="l"/>
            <a:pathLst>
              <a:path h="7570898" w="11571061">
                <a:moveTo>
                  <a:pt x="0" y="0"/>
                </a:moveTo>
                <a:lnTo>
                  <a:pt x="11571061" y="0"/>
                </a:lnTo>
                <a:lnTo>
                  <a:pt x="11571061" y="7570898"/>
                </a:lnTo>
                <a:lnTo>
                  <a:pt x="0" y="7570898"/>
                </a:lnTo>
                <a:lnTo>
                  <a:pt x="0" y="0"/>
                </a:lnTo>
                <a:close/>
              </a:path>
            </a:pathLst>
          </a:custGeom>
          <a:blipFill>
            <a:blip r:embed="rId5"/>
            <a:stretch>
              <a:fillRect l="0" t="0" r="0" b="-1635"/>
            </a:stretch>
          </a:blipFill>
        </p:spPr>
      </p:sp>
      <p:sp>
        <p:nvSpPr>
          <p:cNvPr name="TextBox 5" id="5"/>
          <p:cNvSpPr txBox="true"/>
          <p:nvPr/>
        </p:nvSpPr>
        <p:spPr>
          <a:xfrm rot="0">
            <a:off x="6678797" y="820754"/>
            <a:ext cx="11427264" cy="1198881"/>
          </a:xfrm>
          <a:prstGeom prst="rect">
            <a:avLst/>
          </a:prstGeom>
        </p:spPr>
        <p:txBody>
          <a:bodyPr anchor="t" rtlCol="false" tIns="0" lIns="0" bIns="0" rIns="0">
            <a:spAutoFit/>
          </a:bodyPr>
          <a:lstStyle/>
          <a:p>
            <a:pPr algn="just">
              <a:lnSpc>
                <a:spcPts val="3219"/>
              </a:lnSpc>
            </a:pPr>
            <a:r>
              <a:rPr lang="en-US" sz="2299">
                <a:solidFill>
                  <a:srgbClr val="F2E3CD"/>
                </a:solidFill>
                <a:latin typeface="Tenor Sans"/>
                <a:ea typeface="Tenor Sans"/>
                <a:cs typeface="Tenor Sans"/>
                <a:sym typeface="Tenor Sans"/>
              </a:rPr>
              <a:t>INSIGHTS: REVENUE PER PRODUCT CATEGORY.</a:t>
            </a:r>
          </a:p>
          <a:p>
            <a:pPr algn="just">
              <a:lnSpc>
                <a:spcPts val="3219"/>
              </a:lnSpc>
            </a:pPr>
            <a:r>
              <a:rPr lang="en-US" sz="2299">
                <a:solidFill>
                  <a:srgbClr val="F2E3CD"/>
                </a:solidFill>
                <a:latin typeface="Tenor Sans"/>
                <a:ea typeface="Tenor Sans"/>
                <a:cs typeface="Tenor Sans"/>
                <a:sym typeface="Tenor Sans"/>
              </a:rPr>
              <a:t>THE GRAPH SHOWS THAT COFFEE IS THE MOST BOUGHT BEVERAGE ACROSS ALL 3 LOCATIONS. </a:t>
            </a:r>
          </a:p>
        </p:txBody>
      </p:sp>
      <p:sp>
        <p:nvSpPr>
          <p:cNvPr name="TextBox 6" id="6"/>
          <p:cNvSpPr txBox="true"/>
          <p:nvPr/>
        </p:nvSpPr>
        <p:spPr>
          <a:xfrm rot="0">
            <a:off x="1545218" y="820754"/>
            <a:ext cx="1069874" cy="358776"/>
          </a:xfrm>
          <a:prstGeom prst="rect">
            <a:avLst/>
          </a:prstGeom>
        </p:spPr>
        <p:txBody>
          <a:bodyPr anchor="t" rtlCol="false" tIns="0" lIns="0" bIns="0" rIns="0">
            <a:spAutoFit/>
          </a:bodyPr>
          <a:lstStyle/>
          <a:p>
            <a:pPr algn="just">
              <a:lnSpc>
                <a:spcPts val="2799"/>
              </a:lnSpc>
            </a:pPr>
            <a:r>
              <a:rPr lang="en-US" sz="1999">
                <a:solidFill>
                  <a:srgbClr val="F2E3CD"/>
                </a:solidFill>
                <a:latin typeface="Poppins Light"/>
                <a:ea typeface="Poppins Light"/>
                <a:cs typeface="Poppins Light"/>
                <a:sym typeface="Poppins Light"/>
              </a:rPr>
              <a:t>BRIGHT</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2262A"/>
        </a:solidFill>
      </p:bgPr>
    </p:bg>
    <p:spTree>
      <p:nvGrpSpPr>
        <p:cNvPr id="1" name=""/>
        <p:cNvGrpSpPr/>
        <p:nvPr/>
      </p:nvGrpSpPr>
      <p:grpSpPr>
        <a:xfrm>
          <a:off x="0" y="0"/>
          <a:ext cx="0" cy="0"/>
          <a:chOff x="0" y="0"/>
          <a:chExt cx="0" cy="0"/>
        </a:xfrm>
      </p:grpSpPr>
      <p:sp>
        <p:nvSpPr>
          <p:cNvPr name="TextBox 2" id="2"/>
          <p:cNvSpPr txBox="true"/>
          <p:nvPr/>
        </p:nvSpPr>
        <p:spPr>
          <a:xfrm rot="0">
            <a:off x="5196483" y="885825"/>
            <a:ext cx="7426375" cy="1203313"/>
          </a:xfrm>
          <a:prstGeom prst="rect">
            <a:avLst/>
          </a:prstGeom>
        </p:spPr>
        <p:txBody>
          <a:bodyPr anchor="t" rtlCol="false" tIns="0" lIns="0" bIns="0" rIns="0">
            <a:spAutoFit/>
          </a:bodyPr>
          <a:lstStyle/>
          <a:p>
            <a:pPr algn="ctr">
              <a:lnSpc>
                <a:spcPts val="9800"/>
              </a:lnSpc>
            </a:pPr>
            <a:r>
              <a:rPr lang="en-US" sz="7000" u="sng">
                <a:solidFill>
                  <a:srgbClr val="FFFFFF"/>
                </a:solidFill>
                <a:latin typeface="Tenor Sans"/>
                <a:ea typeface="Tenor Sans"/>
                <a:cs typeface="Tenor Sans"/>
                <a:sym typeface="Tenor Sans"/>
              </a:rPr>
              <a:t>Recommendation</a:t>
            </a:r>
          </a:p>
        </p:txBody>
      </p:sp>
      <p:sp>
        <p:nvSpPr>
          <p:cNvPr name="TextBox 3" id="3"/>
          <p:cNvSpPr txBox="true"/>
          <p:nvPr/>
        </p:nvSpPr>
        <p:spPr>
          <a:xfrm rot="0">
            <a:off x="4183565" y="2549753"/>
            <a:ext cx="9734682" cy="7617035"/>
          </a:xfrm>
          <a:prstGeom prst="rect">
            <a:avLst/>
          </a:prstGeom>
        </p:spPr>
        <p:txBody>
          <a:bodyPr anchor="t" rtlCol="false" tIns="0" lIns="0" bIns="0" rIns="0">
            <a:spAutoFit/>
          </a:bodyPr>
          <a:lstStyle/>
          <a:p>
            <a:pPr algn="ctr">
              <a:lnSpc>
                <a:spcPts val="4363"/>
              </a:lnSpc>
            </a:pPr>
            <a:r>
              <a:rPr lang="en-US" sz="3116">
                <a:solidFill>
                  <a:srgbClr val="FFFFFF"/>
                </a:solidFill>
                <a:latin typeface="Tenor Sans"/>
                <a:ea typeface="Tenor Sans"/>
                <a:cs typeface="Tenor Sans"/>
                <a:sym typeface="Tenor Sans"/>
              </a:rPr>
              <a:t>-</a:t>
            </a:r>
            <a:r>
              <a:rPr lang="en-US" sz="3116">
                <a:solidFill>
                  <a:srgbClr val="FFFFFF"/>
                </a:solidFill>
                <a:latin typeface="Tenor Sans"/>
                <a:ea typeface="Tenor Sans"/>
                <a:cs typeface="Tenor Sans"/>
                <a:sym typeface="Tenor Sans"/>
              </a:rPr>
              <a:t>Prioritize buidling customer loyalty through rewards programs. i.e. Giving a customer a free cup of coffee after a certain number of purchases</a:t>
            </a:r>
          </a:p>
          <a:p>
            <a:pPr algn="ctr">
              <a:lnSpc>
                <a:spcPts val="4363"/>
              </a:lnSpc>
            </a:pPr>
          </a:p>
          <a:p>
            <a:pPr algn="ctr">
              <a:lnSpc>
                <a:spcPts val="4363"/>
              </a:lnSpc>
            </a:pPr>
            <a:r>
              <a:rPr lang="en-US" sz="3116">
                <a:solidFill>
                  <a:srgbClr val="FFFFFF"/>
                </a:solidFill>
                <a:latin typeface="Tenor Sans"/>
                <a:ea typeface="Tenor Sans"/>
                <a:cs typeface="Tenor Sans"/>
                <a:sym typeface="Tenor Sans"/>
              </a:rPr>
              <a:t>-Boost visibility in low performing locations by having random pop-up stores</a:t>
            </a:r>
          </a:p>
          <a:p>
            <a:pPr algn="ctr">
              <a:lnSpc>
                <a:spcPts val="3523"/>
              </a:lnSpc>
            </a:pPr>
          </a:p>
          <a:p>
            <a:pPr algn="ctr">
              <a:lnSpc>
                <a:spcPts val="4363"/>
              </a:lnSpc>
            </a:pPr>
            <a:r>
              <a:rPr lang="en-US" sz="3116">
                <a:solidFill>
                  <a:srgbClr val="FFFFFF"/>
                </a:solidFill>
                <a:latin typeface="Tenor Sans"/>
                <a:ea typeface="Tenor Sans"/>
                <a:cs typeface="Tenor Sans"/>
                <a:sym typeface="Tenor Sans"/>
              </a:rPr>
              <a:t>-Create a working space/social hub where customers may utilize your space for a quick on the go meeting.</a:t>
            </a:r>
          </a:p>
          <a:p>
            <a:pPr algn="ctr">
              <a:lnSpc>
                <a:spcPts val="4363"/>
              </a:lnSpc>
            </a:pPr>
          </a:p>
          <a:p>
            <a:pPr algn="ctr">
              <a:lnSpc>
                <a:spcPts val="4363"/>
              </a:lnSpc>
              <a:spcBef>
                <a:spcPct val="0"/>
              </a:spcBef>
            </a:pPr>
            <a:r>
              <a:rPr lang="en-US" sz="3116">
                <a:solidFill>
                  <a:srgbClr val="FFFFFF"/>
                </a:solidFill>
                <a:latin typeface="Tenor Sans"/>
                <a:ea typeface="Tenor Sans"/>
                <a:cs typeface="Tenor Sans"/>
                <a:sym typeface="Tenor Sans"/>
              </a:rPr>
              <a:t>-Include a delivery service / Mobile coffee barista to ensure that the customer’s order preserves its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DAHFmIcV7AQ</dc:identifier>
  <dcterms:modified xsi:type="dcterms:W3CDTF">2011-08-01T06:04:30Z</dcterms:modified>
  <cp:revision>1</cp:revision>
  <dc:title>Orange Green and Beige Modern Simple Aesthetic Elegant Circle Geometric Shadow Coffee Shop Restaurant Presentation</dc:title>
</cp:coreProperties>
</file>